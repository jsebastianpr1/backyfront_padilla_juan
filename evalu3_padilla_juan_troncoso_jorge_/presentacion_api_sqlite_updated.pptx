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0F0FF"/>
                </a:solidFill>
                <a:latin typeface="Trebuchet MS"/>
              </a:defRPr>
            </a:pPr>
            <a:r>
              <a:t>PROVIEMPLEA BACKEND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t>Guía de Puesta en Marcha: API CRUD y Servidor SQLite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5486400" cy="73152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Arial"/>
              </a:defRPr>
            </a:pPr>
            <a:r>
              <a:t>Desarrollado para la Evaluación 3 de Integración Frontend-Backend</a:t>
            </a:r>
          </a:p>
          <a:p>
            <a:pPr>
              <a:spcBef>
                <a:spcPts val="500"/>
              </a:spcBef>
              <a:defRPr b="1" sz="1400">
                <a:solidFill>
                  <a:srgbClr val="00F0FF"/>
                </a:solidFill>
                <a:latin typeface="Arial"/>
              </a:defRPr>
            </a:pPr>
            <a:r>
              <a:t>Autores: Juan Padilla &amp; Jorge Troncoso</a:t>
            </a:r>
          </a:p>
          <a:p>
            <a:pPr>
              <a:spcBef>
                <a:spcPts val="500"/>
              </a:spcBef>
              <a:defRPr sz="1200">
                <a:solidFill>
                  <a:srgbClr val="A0AEC0"/>
                </a:solidFill>
                <a:latin typeface="Arial"/>
              </a:defRPr>
            </a:pPr>
            <a:r>
              <a:t>Municipalidad de Providencia • Framework Laravel 12 +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01. CONTEXTO Y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El Ecosistema Backend: Laravel + SQLite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36576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La Base de Datos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Motor Serverless:</a:t>
            </a:r>
            <a:r>
              <a:rPr b="0" sz="1300">
                <a:solidFill>
                  <a:srgbClr val="A0AEC0"/>
                </a:solidFill>
                <a:latin typeface="Arial"/>
              </a:rPr>
              <a:t> SQLite es una base de datos integrada directamente en un archivo local sin requerir un demonio de servidor activo.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Ruta del Archivo:</a:t>
            </a:r>
            <a:r>
              <a:rPr b="0" sz="1300">
                <a:solidFill>
                  <a:srgbClr val="A0AEC0"/>
                </a:solidFill>
                <a:latin typeface="Arial"/>
              </a:rPr>
              <a:t> Se almacena localmente en la carpeta del proyecto en `database/database.sqlite`.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Cero Administración:</a:t>
            </a:r>
            <a:r>
              <a:rPr b="0" sz="1300">
                <a:solidFill>
                  <a:srgbClr val="A0AEC0"/>
                </a:solidFill>
                <a:latin typeface="Arial"/>
              </a:rPr>
              <a:t> No requiere instalar MySQL, PostgreSQL ni configurar puertos o credenciales complejas.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Portabilidad Extrema:</a:t>
            </a:r>
            <a:r>
              <a:rPr b="0" sz="1300">
                <a:solidFill>
                  <a:srgbClr val="A0AEC0"/>
                </a:solidFill>
                <a:latin typeface="Arial"/>
              </a:rPr>
              <a:t> Facilita que todo el entorno se ejecute al instante copiando los archivos del proyecto.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3035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La API CRUD en Laravel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Framework Moderno:</a:t>
            </a:r>
            <a:r>
              <a:rPr b="0" sz="1300">
                <a:solidFill>
                  <a:srgbClr val="A0AEC0"/>
                </a:solidFill>
                <a:latin typeface="Arial"/>
              </a:rPr>
              <a:t> Desarrollado sobre PHP Laravel 12 con soporte integrado para controladores de API RESTful.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Controlador API:</a:t>
            </a:r>
            <a:r>
              <a:rPr b="0" sz="1300">
                <a:solidFill>
                  <a:srgbClr val="A0AEC0"/>
                </a:solidFill>
                <a:latin typeface="Arial"/>
              </a:rPr>
              <a:t> Administrado por `UserController.php`, con soporte completo para operaciones CRUD básicas.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Perfil Completo:</a:t>
            </a:r>
            <a:r>
              <a:rPr b="0" sz="1300">
                <a:solidFill>
                  <a:srgbClr val="A0AEC0"/>
                </a:solidFill>
                <a:latin typeface="Arial"/>
              </a:rPr>
              <a:t> El método `toBlindArray()` expone todos los datos profesionales y demográficos del candidato.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Capa de Caché:</a:t>
            </a:r>
            <a:r>
              <a:rPr b="0" sz="1300">
                <a:solidFill>
                  <a:srgbClr val="A0AEC0"/>
                </a:solidFill>
                <a:latin typeface="Arial"/>
              </a:rPr>
              <a:t> Utiliza base de datos para almacenar temporalmente resultados de consultas pesadas (&lt; 15ms).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02. CONFIGURACIÓN DEL ENTORNO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Paso 1: Inicialización de SQLite y Entorno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36576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94360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Comandos de Consola (PowerShell)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1. Configurar Variable de Entorno:</a:t>
            </a:r>
            <a:r>
              <a:rPr b="0" sz="1300">
                <a:solidFill>
                  <a:srgbClr val="A0AEC0"/>
                </a:solidFill>
                <a:latin typeface="Arial"/>
              </a:rPr>
              <a:t> Si PHP no está registrado globalmente, agregue temporalmente la ruta del ejecutable PHP 8.3.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2. Ejecutar Migraciones y Semillas:</a:t>
            </a:r>
            <a:r>
              <a:rPr b="0" sz="1300">
                <a:solidFill>
                  <a:srgbClr val="A0AEC0"/>
                </a:solidFill>
                <a:latin typeface="Arial"/>
              </a:rPr>
              <a:t> Reconstruye las tablas de base de datos desde cero y carga datos de prueba iniciales.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5577840" cy="2011680"/>
          </a:xfrm>
          <a:prstGeom prst="rect">
            <a:avLst/>
          </a:prstGeom>
          <a:solidFill>
            <a:srgbClr val="0E1222"/>
          </a:solidFill>
          <a:ln w="12700">
            <a:solidFill>
              <a:srgbClr val="3B4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# Registrar PHP local en la sesión de terminal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$env:PATH += ";C:\Users\juans\AppData\Local\Microsoft\WinGet\Packages\PHP.PHP.8.3_Microsoft.Winget.Source_8wekyb3d8bbwe"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# Ejecutar migraciones limpias y sembrar datos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php artisan migrate:fresh --seed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48463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¿Qué ocurre tras bambalinas?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9456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Creación del Archivo:</a:t>
            </a:r>
            <a:r>
              <a:rPr b="0" sz="1300">
                <a:solidFill>
                  <a:srgbClr val="A0AEC0"/>
                </a:solidFill>
                <a:latin typeface="Arial"/>
              </a:rPr>
              <a:t> Laravel crea automáticamente el archivo `database.sqlite` (si no existiera).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Esquema de Tablas:</a:t>
            </a:r>
            <a:r>
              <a:rPr b="0" sz="1300">
                <a:solidFill>
                  <a:srgbClr val="A0AEC0"/>
                </a:solidFill>
                <a:latin typeface="Arial"/>
              </a:rPr>
              <a:t> Se generan la tabla `users` para candidatos y la tabla `cache` para la gestión de rendimiento.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Población de Datos:</a:t>
            </a:r>
            <a:r>
              <a:rPr b="0" sz="1300">
                <a:solidFill>
                  <a:srgbClr val="A0AEC0"/>
                </a:solidFill>
                <a:latin typeface="Arial"/>
              </a:rPr>
              <a:t> El sembrador `DatabaseSeeder.php` genera 5 perfiles diversos con competencias técnicas y casts JSON.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Consistencia de Datos:</a:t>
            </a:r>
            <a:r>
              <a:rPr b="0" sz="1300">
                <a:solidFill>
                  <a:srgbClr val="A0AEC0"/>
                </a:solidFill>
                <a:latin typeface="Arial"/>
              </a:rPr>
              <a:t> Garantiza que la base de datos esté lista para recibir solicitudes CRUD del frontend.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03. ENCENDIDO DE LA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Paso 2: Levantar el Servidor de la API CRUD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36576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94360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Ejecución del Servidor 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Servidor de Desarrollo:</a:t>
            </a:r>
            <a:r>
              <a:rPr b="0" sz="1300">
                <a:solidFill>
                  <a:srgbClr val="A0AEC0"/>
                </a:solidFill>
                <a:latin typeface="Arial"/>
              </a:rPr>
              <a:t> Iniciamos el servidor web local integrado de Laravel (`Artisan Serve`).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Puerto Especificado:</a:t>
            </a:r>
            <a:r>
              <a:rPr b="0" sz="1300">
                <a:solidFill>
                  <a:srgbClr val="A0AEC0"/>
                </a:solidFill>
                <a:latin typeface="Arial"/>
              </a:rPr>
              <a:t> Se define el puerto 8080 para evitar conflictos con otros servicios locales.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Conexión con SQLite:</a:t>
            </a:r>
            <a:r>
              <a:rPr b="0" sz="1300">
                <a:solidFill>
                  <a:srgbClr val="A0AEC0"/>
                </a:solidFill>
                <a:latin typeface="Arial"/>
              </a:rPr>
              <a:t> Cada petición HTTP entrante activará Eloquent para consultar de forma transparente el archivo SQLite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5577840" cy="1645920"/>
          </a:xfrm>
          <a:prstGeom prst="rect">
            <a:avLst/>
          </a:prstGeom>
          <a:solidFill>
            <a:srgbClr val="0E1222"/>
          </a:solidFill>
          <a:ln w="12700">
            <a:solidFill>
              <a:srgbClr val="3B4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# Ejecutar en la carpeta raíz del proyecto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php artisan serve --port=8080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48463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Información del Servicio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9456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Punto de Acceso Local:</a:t>
            </a:r>
            <a:r>
              <a:rPr b="0" sz="1300">
                <a:solidFill>
                  <a:srgbClr val="A0AEC0"/>
                </a:solidFill>
                <a:latin typeface="Arial"/>
              </a:rPr>
              <a:t> La API CRUD estará disponible para recibir llamadas en `http://localhost:8080/api/usuarios`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SQLite en Acción:</a:t>
            </a:r>
            <a:r>
              <a:rPr b="0" sz="1300">
                <a:solidFill>
                  <a:srgbClr val="A0AEC0"/>
                </a:solidFill>
                <a:latin typeface="Arial"/>
              </a:rPr>
              <a:t> No es necesario ejecutar ningún comando como 'start sqlite' o similar. SQLite arranca automáticamente al consultar el archivo.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Validación Rápida:</a:t>
            </a:r>
            <a:r>
              <a:rPr b="0" sz="1300">
                <a:solidFill>
                  <a:srgbClr val="A0AEC0"/>
                </a:solidFill>
                <a:latin typeface="Arial"/>
              </a:rPr>
              <a:t> Al abrir la URL anterior en un navegador, debería ver una respuesta JSON con la lista de candidatos con su perfil completo.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04. CAPA DE SERVICIO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Endpoints CRUD Disponibles de la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36576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94415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Catálogo de Rutas de la Vitrina de Empleo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FFFFFF"/>
                </a:solidFill>
                <a:latin typeface="Arial"/>
              </a:defRPr>
            </a:pPr>
            <a:r>
              <a:t>GET /api/usuarios :</a:t>
            </a:r>
            <a:r>
              <a:rPr b="0" sz="1200">
                <a:solidFill>
                  <a:srgbClr val="A0AEC0"/>
                </a:solidFill>
                <a:latin typeface="Arial"/>
              </a:rPr>
              <a:t> Obtiene los candidatos activos. Retorna perfiles de candidatos completos (incluyendo nombres, correos y comunas) para una visualización transparente.</a:t>
            </a:r>
          </a:p>
          <a:p>
            <a:pPr>
              <a:spcAft>
                <a:spcPts val="600"/>
              </a:spcAft>
              <a:defRPr b="1" sz="1200">
                <a:solidFill>
                  <a:srgbClr val="FFFFFF"/>
                </a:solidFill>
                <a:latin typeface="Arial"/>
              </a:defRPr>
            </a:pPr>
            <a:r>
              <a:t>GET /api/usuarios?role=admin :</a:t>
            </a:r>
            <a:r>
              <a:rPr b="0" sz="1200">
                <a:solidFill>
                  <a:srgbClr val="A0AEC0"/>
                </a:solidFill>
                <a:latin typeface="Arial"/>
              </a:rPr>
              <a:t> Ruta administrativa opcional para que el personal autorizado audite o administre los perfiles completos de los candidatos.</a:t>
            </a:r>
          </a:p>
          <a:p>
            <a:pPr>
              <a:spcAft>
                <a:spcPts val="600"/>
              </a:spcAft>
              <a:defRPr b="1" sz="1200">
                <a:solidFill>
                  <a:srgbClr val="FFFFFF"/>
                </a:solidFill>
                <a:latin typeface="Arial"/>
              </a:defRPr>
            </a:pPr>
            <a:r>
              <a:t>POST /api/usuarios :</a:t>
            </a:r>
            <a:r>
              <a:rPr b="0" sz="1200">
                <a:solidFill>
                  <a:srgbClr val="A0AEC0"/>
                </a:solidFill>
                <a:latin typeface="Arial"/>
              </a:rPr>
              <a:t> Permite registrar nuevos candidatos en el sistema. Valida obligatoriamente campos sensibles y formaciones profesionales.</a:t>
            </a:r>
          </a:p>
          <a:p>
            <a:pPr>
              <a:spcAft>
                <a:spcPts val="600"/>
              </a:spcAft>
              <a:defRPr b="1" sz="1200">
                <a:solidFill>
                  <a:srgbClr val="FFFFFF"/>
                </a:solidFill>
                <a:latin typeface="Arial"/>
              </a:defRPr>
            </a:pPr>
            <a:r>
              <a:t>PATCH /api/usuarios/{id}/status :</a:t>
            </a:r>
            <a:r>
              <a:rPr b="0" sz="1200">
                <a:solidFill>
                  <a:srgbClr val="A0AEC0"/>
                </a:solidFill>
                <a:latin typeface="Arial"/>
              </a:rPr>
              <a:t> Enciende o apaga la visibilidad del perfil (is_active). Útil cuando un candidato consigue empleo y desea suspender temporalmente su visualización.</a:t>
            </a:r>
          </a:p>
          <a:p>
            <a:pPr>
              <a:spcAft>
                <a:spcPts val="600"/>
              </a:spcAft>
              <a:defRPr b="1" sz="1200">
                <a:solidFill>
                  <a:srgbClr val="FFFFFF"/>
                </a:solidFill>
                <a:latin typeface="Arial"/>
              </a:defRPr>
            </a:pPr>
            <a:r>
              <a:t>DELETE /api/usuarios/{id} :</a:t>
            </a:r>
            <a:r>
              <a:rPr b="0" sz="1200">
                <a:solidFill>
                  <a:srgbClr val="A0AEC0"/>
                </a:solidFill>
                <a:latin typeface="Arial"/>
              </a:rPr>
              <a:t> Remueve permanentemente un postulante del sistema y realiza una invalidación instantánea de la caché.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05. PRUEBAS DE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Consumo y Pruebas en PowerShell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36576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1. Listar Vitrina de Empleo (GET)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Consulta Inicial:</a:t>
            </a:r>
            <a:r>
              <a:rPr b="0" sz="1300">
                <a:solidFill>
                  <a:srgbClr val="A0AEC0"/>
                </a:solidFill>
                <a:latin typeface="Arial"/>
              </a:rPr>
              <a:t> Solicita la lista de candidatos activos. Retorna datos profesionales y sociodemográficos completos.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Prueba de Endpoint:</a:t>
            </a:r>
            <a:r>
              <a:rPr b="0" sz="1300">
                <a:solidFill>
                  <a:srgbClr val="A0AEC0"/>
                </a:solidFill>
                <a:latin typeface="Arial"/>
              </a:rPr>
              <a:t> Ejecute este comando en una terminal de PowerShell secundaria: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4937760" cy="1828800"/>
          </a:xfrm>
          <a:prstGeom prst="rect">
            <a:avLst/>
          </a:prstGeom>
          <a:solidFill>
            <a:srgbClr val="0E1222"/>
          </a:solidFill>
          <a:ln w="12700">
            <a:solidFill>
              <a:srgbClr val="3B4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# Consultar candidatos activos (Perfil Completo)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Invoke-RestMethod -Uri "http://localhost:8080/api/usuarios" `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  -Method 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3035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2. Apagar Visibilidad (PATCH)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Toggle de Estado:</a:t>
            </a:r>
            <a:r>
              <a:rPr b="0" sz="1300">
                <a:solidFill>
                  <a:srgbClr val="A0AEC0"/>
                </a:solidFill>
                <a:latin typeface="Arial"/>
              </a:rPr>
              <a:t> Envía una actualización parcial indicando 'is_active = false' para suspender a un candidato.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Comando de Consola:</a:t>
            </a:r>
            <a:r>
              <a:rPr b="0" sz="1300">
                <a:solidFill>
                  <a:srgbClr val="A0AEC0"/>
                </a:solidFill>
                <a:latin typeface="Arial"/>
              </a:rPr>
              <a:t> Ejecute lo siguiente en PowerShell: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931920"/>
            <a:ext cx="4937760" cy="1828800"/>
          </a:xfrm>
          <a:prstGeom prst="rect">
            <a:avLst/>
          </a:prstGeom>
          <a:solidFill>
            <a:srgbClr val="0E1222"/>
          </a:solidFill>
          <a:ln w="12700">
            <a:solidFill>
              <a:srgbClr val="3B4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0233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# Definir cuerpo JSON y apagar candidato ID 4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$body = @{ is_active = $false } | ConvertTo-Json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Invoke-RestMethod -Uri "http://localhost:8080/api/usuarios/4/status" `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  -Method PATCH -Body $body -ContentType "application/json"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06. OPTIMIZACIÓN Y DOCUMENTACIÓN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Rendimiento Extremo y Documentación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36576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Estrategia Cache-Aside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Almacenamiento Local:</a:t>
            </a:r>
            <a:r>
              <a:rPr b="0" sz="1300">
                <a:solidFill>
                  <a:srgbClr val="A0AEC0"/>
                </a:solidFill>
                <a:latin typeface="Arial"/>
              </a:rPr>
              <a:t> Respuestas de búsquedas y filtros se indexan con una clave única (`users:all:{hash_de_filtros}`).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Cache Hit:</a:t>
            </a:r>
            <a:r>
              <a:rPr b="0" sz="1300">
                <a:solidFill>
                  <a:srgbClr val="A0AEC0"/>
                </a:solidFill>
                <a:latin typeface="Arial"/>
              </a:rPr>
              <a:t> Las búsquedas en caché tardan menos de 15 milisegundos, liberando de carga al servidor SQLite.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Invalidación Instantánea:</a:t>
            </a:r>
            <a:r>
              <a:rPr b="0" sz="1300">
                <a:solidFill>
                  <a:srgbClr val="A0AEC0"/>
                </a:solidFill>
                <a:latin typeface="Arial"/>
              </a:rPr>
              <a:t> Cualquier cambio (POST, PUT, DELETE, PATCH) invoca `Cache::flush()`, asegurando que las empresas vean cambios en tiempo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303520" cy="4572000"/>
          </a:xfrm>
          <a:prstGeom prst="round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  <a:latin typeface="Arial"/>
              </a:defRPr>
            </a:pPr>
            <a:r>
              <a:t>Documentación Swagger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Archivo Local:</a:t>
            </a:r>
            <a:r>
              <a:rPr b="0" sz="1300">
                <a:solidFill>
                  <a:srgbClr val="A0AEC0"/>
                </a:solidFill>
                <a:latin typeface="Arial"/>
              </a:rPr>
              <a:t> El archivo `swagger.yaml` describe toda la API en español con ejemplos estructurados de peticiones.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Visualización Interactiva:</a:t>
            </a:r>
            <a:r>
              <a:rPr b="0" sz="1300">
                <a:solidFill>
                  <a:srgbClr val="A0AEC0"/>
                </a:solidFill>
                <a:latin typeface="Arial"/>
              </a:rPr>
              <a:t> Puede copiar su contenido y pegarlo en `editor.swagger.io` para interactuar en vivo.</a:t>
            </a:r>
          </a:p>
          <a:p>
            <a:pPr>
              <a:spcAft>
                <a:spcPts val="600"/>
              </a:spcAft>
              <a:defRPr b="1" sz="1300">
                <a:solidFill>
                  <a:srgbClr val="FFFFFF"/>
                </a:solidFill>
                <a:latin typeface="Arial"/>
              </a:defRPr>
            </a:pPr>
            <a:r>
              <a:t>Simulador Integrado:</a:t>
            </a:r>
            <a:r>
              <a:rPr b="0" sz="1300">
                <a:solidFill>
                  <a:srgbClr val="A0AEC0"/>
                </a:solidFill>
                <a:latin typeface="Arial"/>
              </a:rPr>
              <a:t> Permite probar parámetros de filtrado (habilidades, certificaciones), probar límites de peticiones y verificar respuestas de error.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0F0FF"/>
                </a:solidFill>
                <a:latin typeface="Trebuchet MS"/>
              </a:defRPr>
            </a:pPr>
            <a:r>
              <a:t>¡TODO LISTO!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  <a:latin typeface="Arial"/>
              </a:defRPr>
            </a:pPr>
            <a:r>
              <a:t>La API CRUD de ProviEmplea y el Servidor SQLite están listos para ser operados.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73152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0FF"/>
                </a:solidFill>
                <a:latin typeface="Arial"/>
              </a:defRPr>
            </a:pPr>
            <a:r>
              <a:t>Pasos finales recomendados:</a:t>
            </a:r>
          </a:p>
          <a:p>
            <a:pPr>
              <a:spcBef>
                <a:spcPts val="400"/>
              </a:spcBef>
              <a:defRPr sz="1300">
                <a:solidFill>
                  <a:srgbClr val="A0AEC0"/>
                </a:solidFill>
                <a:latin typeface="Arial"/>
              </a:defRPr>
            </a:pPr>
            <a:r>
              <a:t>1. Abra una terminal PowerShell en la raíz del proyecto para inicializar la base de datos.</a:t>
            </a:r>
          </a:p>
          <a:p>
            <a:pPr>
              <a:spcBef>
                <a:spcPts val="400"/>
              </a:spcBef>
              <a:defRPr sz="1300">
                <a:solidFill>
                  <a:srgbClr val="A0AEC0"/>
                </a:solidFill>
                <a:latin typeface="Arial"/>
              </a:defRPr>
            </a:pPr>
            <a:r>
              <a:t>2. Ejecute el comando `php artisan serve --port=8080` para encender el servidor.</a:t>
            </a:r>
          </a:p>
          <a:p>
            <a:pPr>
              <a:spcBef>
                <a:spcPts val="400"/>
              </a:spcBef>
              <a:defRPr sz="1300">
                <a:solidFill>
                  <a:srgbClr val="A0AEC0"/>
                </a:solidFill>
                <a:latin typeface="Arial"/>
              </a:defRPr>
            </a:pPr>
            <a:r>
              <a:t>3. Abra `http://localhost:8080/api/usuarios` en su navegador para validar el funcionamiento.</a:t>
            </a:r>
          </a:p>
          <a:p>
            <a:pPr>
              <a:spcBef>
                <a:spcPts val="400"/>
              </a:spcBef>
              <a:defRPr sz="1300">
                <a:solidFill>
                  <a:srgbClr val="A0AEC0"/>
                </a:solidFill>
                <a:latin typeface="Arial"/>
              </a:defRPr>
            </a:pPr>
            <a:r>
              <a:t>4. ¡Éxito en su presentación de integración frontend-backend!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