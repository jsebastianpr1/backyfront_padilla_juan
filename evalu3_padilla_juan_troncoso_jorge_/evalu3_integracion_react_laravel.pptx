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2011680"/>
            <a:ext cx="91440" cy="2834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828800"/>
            <a:ext cx="100584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64748B"/>
                </a:solidFill>
                <a:latin typeface="Arial"/>
              </a:defRPr>
            </a:pPr>
            <a:r>
              <a:t>INTEGRACIÓN DE SISTEMAS</a:t>
            </a:r>
          </a:p>
          <a:p>
            <a:pPr>
              <a:spcAft>
                <a:spcPts val="10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Conectando Frontend (React) y Backend (Laravel)</a:t>
            </a:r>
          </a:p>
          <a:p>
            <a:pPr>
              <a:spcAft>
                <a:spcPts val="4000"/>
              </a:spcAft>
              <a:defRPr sz="1600">
                <a:solidFill>
                  <a:srgbClr val="EF4444"/>
                </a:solidFill>
                <a:latin typeface="Arial"/>
              </a:defRPr>
            </a:pPr>
            <a:r>
              <a:t>Caso práctico de integración: ElectricSugar + CRUDAPI (ProviEmplea)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Preparado para la Evaluación 3 • Ingeniería de Software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EL ECOSISTEMA TECNOLÓGICO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Dos ambientes independientes cooperando en tiempo real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512064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1E293B"/>
                </a:solidFill>
                <a:latin typeface="Arial"/>
              </a:defRPr>
            </a:pPr>
            <a:r>
              <a:t>FRONTEND: ELECTRICSUGAR (REACT)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Desarrollado en React 19 y empaquetado ultra rápido con Vite.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Arquitectura de componentes modular y de alto rendimiento visual.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Interfaz de usuario dinámica y adaptativa en español (Landing &amp; CMS).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Validación robusta de datos en el cliente antes del envío HTTP.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Mecanismo reactivo para actualizar la vista de forma instantánea.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82512" y="182880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BACKEND: CRUDAPI (LARAVEL 11/12)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Framework PHP de última generación para APIs RESTful de alta velocidad.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Base de datos SQLite optimizada localmente para acceso rápido.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Controlador UserController que gestiona el ciclo CRUD completo.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Protección contra discriminación mediante Blind CV (Curriculum Ciego).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Rendimiento optimizado con almacenamiento en caché e invalidación activa.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ARQUITECTURA DE SERVIDORES Y PUERTOS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El flujo de comunicación cliente-servidor a nivel local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329184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1E293B"/>
                </a:solidFill>
                <a:latin typeface="Arial"/>
              </a:defRPr>
            </a:pPr>
            <a:r>
              <a:t>1. EL CLIENTE (REACT)</a:t>
            </a:r>
            <a:br/>
            <a:r>
              <a:t>puerto 5173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Dirección local: http://localhost:5173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El navegador renderiza el HTML, CSS y procesa el código JS.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Ejecuta fetch('/api/usuarios') para comunicarse de forma asíncrona.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43984" y="182880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2. EL PROXY (VITE)</a:t>
            </a:r>
            <a:br/>
            <a:r>
              <a:t>puerto 5173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Configurado en vite.config.js.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Detecta la petición y actúa como pasarela.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Reenvía la solicitud de forma transparente al servidor de Laravel.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Evita políticas de CORS en desarrollo de forma simple.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11312" y="1828800"/>
            <a:ext cx="329184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1E293B"/>
                </a:solidFill>
                <a:latin typeface="Arial"/>
              </a:defRPr>
            </a:pPr>
            <a:r>
              <a:t>3. EL SERVIDOR (LARAVEL)</a:t>
            </a:r>
            <a:br/>
            <a:r>
              <a:t>puerto 8000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Dirección local: http://127.0.0.1:8000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Procesa lógica de negocio y aplica validaciones robustas.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Interactúa con la base de datos SQLite y retorna JSON puro.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RESOLUCIÓN DE CORS Y ENLACE SEGURO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Mecanismos para garantizar llamadas HTTP exitosas y seguras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PROXY INVERSO EN VITE (DESARROLLO)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Vite intercepta las peticiones de React dirigidas a /api y las redirige.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Código en vite.config.js:</a:t>
            </a:r>
            <a:br/>
            <a:r>
              <a:t>  server: {</a:t>
            </a:r>
            <a:br/>
            <a:r>
              <a:t>    proxy: {</a:t>
            </a:r>
            <a:br/>
            <a:r>
              <a:t>      '/api/usuarios': {</a:t>
            </a:r>
            <a:br/>
            <a:r>
              <a:t>        target: 'http://127.0.0.1:8000',</a:t>
            </a:r>
            <a:br/>
            <a:r>
              <a:t>        changeOrigin: true</a:t>
            </a:r>
            <a:br/>
            <a:r>
              <a:t>      }</a:t>
            </a:r>
            <a:br/>
            <a:r>
              <a:t>    }</a:t>
            </a:r>
            <a:br/>
            <a:r>
              <a:t>  }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El navegador ve el mismo origen, lo que anula bloqueos de CORS.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Mantiene el código de llamadas HTTP limpio de URLs absolutas hardcodeadas.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82512" y="1828800"/>
            <a:ext cx="512064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1E293B"/>
                </a:solidFill>
                <a:latin typeface="Arial"/>
              </a:defRPr>
            </a:pPr>
            <a:r>
              <a:t>CORS NATIVO EN LARAVEL (PRODUCCIÓN)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Habilita el consumo directo de la API desde orígenes específicos.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Publicado en config/cors.php mediante:</a:t>
            </a:r>
            <a:br/>
            <a:r>
              <a:t>  php artisan config:publish cors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Configurado para aceptar explícitamente el origen:</a:t>
            </a:r>
            <a:br/>
            <a:r>
              <a:t>  'allowed_origins' =&gt; ['http://localhost:5173']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Define de forma segura los métodos permitidos (GET, POST, PUT, DELETE) y encabezados autorizados.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FLUJO CRUD E INTEGRACIÓN REACTIVA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El ciclo de vida del dato desde la pantalla hasta la base de datos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329184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1E293B"/>
                </a:solidFill>
                <a:latin typeface="Arial"/>
              </a:defRPr>
            </a:pPr>
            <a:r>
              <a:t>LEER Y MOSTRAR</a:t>
            </a:r>
            <a:br/>
            <a:r>
              <a:t>(GET /usuarios)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React realiza fetch() al montar el componente.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Laravel responde con JSON paginado y optimizado.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React actualiza el estado local y renderiza tarjetas de usuarios.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43984" y="182880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CREAR Y VALIDAR</a:t>
            </a:r>
            <a:br/>
            <a:r>
              <a:t>(POST /usuarios)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El cliente valida que nombre y correo no estén vacíos.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Laravel recibe la petición y valida email único (400 si falla).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En caso de éxito, guarda en SQLite, borra caché y responde 201.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11312" y="1828800"/>
            <a:ext cx="329184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1E293B"/>
                </a:solidFill>
                <a:latin typeface="Arial"/>
              </a:defRPr>
            </a:pPr>
            <a:r>
              <a:t>ACTUALIZAR Y BORRAR</a:t>
            </a:r>
            <a:br/>
            <a:r>
              <a:t>(PUT / DELETE)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Edición y eliminación interactiva con confirmaciones claras.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Laravel ejecuta la acción en SQLite e invalida activamente la caché.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La interfaz en React se actualiza instantáneamente en segundo plano.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57200"/>
            <a:ext cx="10817352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E293B"/>
                </a:solidFill>
                <a:latin typeface="Arial"/>
              </a:defRPr>
            </a:pPr>
            <a:r>
              <a:t>BUENAS PRÁCTICAS E INGENIERÍA DE CALIDAD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Garantizando una solución veloz, estable y escalable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512064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1E293B"/>
                </a:solidFill>
                <a:latin typeface="Arial"/>
              </a:defRPr>
            </a:pPr>
            <a:r>
              <a:t>ROBUSTED EN EL SERVIDOR Y API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VALIDACIÓN COMPLETA: Validación de datos de entrada en Laravel en español para evitar datos corruptos.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MANEJO DE ERRORES: Respuestas JSON estructuradas con códigos HTTP estándares (400, 404, 500) y logs en el servidor.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1E293B"/>
                </a:solidFill>
                <a:latin typeface="Arial"/>
              </a:defRPr>
            </a:pPr>
            <a:r>
              <a:t>• SEGURIDAD ACTIVA: Rate Limiting explícito de 60 peticiones/minuto (middleware throttle) documentado en Swagger.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82512" y="182880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RENDIMIENTO Y OPTIMIZACIÓN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ALMACENAMIENTO EN CACHÉ: Las peticiones repetitivas GET son servidas desde caché en menos de 5ms.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INVALIDACIÓN ACTIVA: Cada POST/PUT/DELETE borra de forma proactiva la caché garantizando coherencia de datos.</a:t>
            </a:r>
          </a:p>
          <a:p>
            <a:pPr>
              <a:lnSpc>
                <a:spcPct val="115000"/>
              </a:lnSpc>
              <a:spcBef>
                <a:spcPts val="600"/>
              </a:spcBef>
              <a:defRPr sz="1200">
                <a:solidFill>
                  <a:srgbClr val="FFFFFF"/>
                </a:solidFill>
                <a:latin typeface="Arial"/>
              </a:defRPr>
            </a:pPr>
            <a:r>
              <a:t>• DOCUMENTACIÓN VIVA: swagger.yaml documenta detalladamente el comportamiento de caché, rendimiento y límites.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2011680"/>
            <a:ext cx="91440" cy="2834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920240"/>
            <a:ext cx="100584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64748B"/>
                </a:solidFill>
                <a:latin typeface="Arial"/>
              </a:defRPr>
            </a:pPr>
            <a:r>
              <a:t>INTEGRACIÓN CULMINADA</a:t>
            </a:r>
          </a:p>
          <a:p>
            <a:pPr>
              <a:spcAft>
                <a:spcPts val="1000"/>
              </a:spcAft>
              <a:defRPr sz="4000" b="1">
                <a:solidFill>
                  <a:srgbClr val="FFFFFF"/>
                </a:solidFill>
                <a:latin typeface="Arial"/>
              </a:defRPr>
            </a:pPr>
            <a:r>
              <a:t>¡Muchas Gracias por su Atención!</a:t>
            </a:r>
          </a:p>
          <a:p>
            <a:pPr>
              <a:spcAft>
                <a:spcPts val="4000"/>
              </a:spcAft>
              <a:defRPr sz="1600">
                <a:solidFill>
                  <a:srgbClr val="EF4444"/>
                </a:solidFill>
                <a:latin typeface="Arial"/>
              </a:defRPr>
            </a:pPr>
            <a:r>
              <a:t>La presentación ha sido generada exitosamente en formato PPTX.</a:t>
            </a:r>
          </a:p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Archivo: evalu3_integracion_react_laravel.pptx • Autores: Juan Padilla y Jorge Troncoso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